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60" r:id="rId5"/>
    <p:sldId id="261" r:id="rId6"/>
    <p:sldId id="264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C7D1-D748-9B45-4896-CDA04CA97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ELECTRIC VEHICLES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DATA ANALYSIS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2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807C-5B63-24C5-689F-555502EC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1"/>
                </a:solidFill>
              </a:rPr>
              <a:t>Total Vehicles by Model Year (2010 Onwards)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9C7B-9FDA-E2DC-1208-FACF09BD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010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>
                <a:solidFill>
                  <a:schemeClr val="bg1"/>
                </a:solidFill>
              </a:rPr>
              <a:t>Insight</a:t>
            </a:r>
          </a:p>
          <a:p>
            <a:r>
              <a:rPr lang="en-IN" sz="9600" dirty="0">
                <a:solidFill>
                  <a:schemeClr val="bg1"/>
                </a:solidFill>
              </a:rPr>
              <a:t>EV registrations increased steadily from 2010 and grew rapidly after 2020. </a:t>
            </a:r>
          </a:p>
          <a:p>
            <a:r>
              <a:rPr lang="en-IN" sz="9600" dirty="0">
                <a:solidFill>
                  <a:schemeClr val="bg1"/>
                </a:solidFill>
              </a:rPr>
              <a:t>The highest registrations are observed in the latest available years. </a:t>
            </a:r>
          </a:p>
          <a:p>
            <a:pPr marL="0" indent="0">
              <a:buNone/>
            </a:pPr>
            <a:r>
              <a:rPr lang="en-IN" sz="9600" b="1" dirty="0">
                <a:solidFill>
                  <a:schemeClr val="bg1"/>
                </a:solidFill>
              </a:rPr>
              <a:t>Reason</a:t>
            </a:r>
          </a:p>
          <a:p>
            <a:r>
              <a:rPr lang="en-IN" sz="9600" dirty="0">
                <a:solidFill>
                  <a:schemeClr val="bg1"/>
                </a:solidFill>
              </a:rPr>
              <a:t>Government incentives encouraged EV purchases. </a:t>
            </a:r>
          </a:p>
          <a:p>
            <a:r>
              <a:rPr lang="en-IN" sz="9600" dirty="0">
                <a:solidFill>
                  <a:schemeClr val="bg1"/>
                </a:solidFill>
              </a:rPr>
              <a:t>Battery technology improved, providing longer driving ranges. </a:t>
            </a:r>
          </a:p>
          <a:p>
            <a:r>
              <a:rPr lang="en-IN" sz="9600" dirty="0">
                <a:solidFill>
                  <a:schemeClr val="bg1"/>
                </a:solidFill>
              </a:rPr>
              <a:t>Charging infrastructure expanded. </a:t>
            </a:r>
          </a:p>
          <a:p>
            <a:r>
              <a:rPr lang="en-IN" sz="9600" dirty="0">
                <a:solidFill>
                  <a:schemeClr val="bg1"/>
                </a:solidFill>
              </a:rPr>
              <a:t>More manufacturers launched affordable EV models. </a:t>
            </a:r>
          </a:p>
          <a:p>
            <a:r>
              <a:rPr lang="en-IN" sz="9600" dirty="0">
                <a:solidFill>
                  <a:schemeClr val="bg1"/>
                </a:solidFill>
              </a:rPr>
              <a:t>Rising fuel prices made EVs a more economical long-term option. </a:t>
            </a:r>
          </a:p>
          <a:p>
            <a:r>
              <a:rPr lang="en-IN" sz="9600" b="1" dirty="0">
                <a:solidFill>
                  <a:schemeClr val="bg1"/>
                </a:solidFill>
              </a:rPr>
              <a:t>Business Conclusion</a:t>
            </a:r>
          </a:p>
          <a:p>
            <a:r>
              <a:rPr lang="en-IN" sz="9600" dirty="0">
                <a:solidFill>
                  <a:schemeClr val="bg1"/>
                </a:solidFill>
              </a:rPr>
              <a:t>The EV market is experiencing strong growth and is expected to continue expanding.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536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A15A-9327-D06E-F7B3-D4255548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1"/>
                </a:solidFill>
              </a:rPr>
              <a:t>Total Vehicles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E053-9E7E-D59F-B59F-14A1E1F51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Insight</a:t>
            </a:r>
          </a:p>
          <a:p>
            <a:r>
              <a:rPr lang="en-IN" dirty="0">
                <a:solidFill>
                  <a:schemeClr val="bg1"/>
                </a:solidFill>
              </a:rPr>
              <a:t>Washington State has the highest concentration of electric vehicles. </a:t>
            </a:r>
          </a:p>
          <a:p>
            <a:r>
              <a:rPr lang="en-IN" dirty="0">
                <a:solidFill>
                  <a:schemeClr val="bg1"/>
                </a:solidFill>
              </a:rPr>
              <a:t>A few states account for the majority of EV registrations.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Reason</a:t>
            </a:r>
          </a:p>
          <a:p>
            <a:r>
              <a:rPr lang="en-IN" dirty="0">
                <a:solidFill>
                  <a:schemeClr val="bg1"/>
                </a:solidFill>
              </a:rPr>
              <a:t>Better charging infrastructure. </a:t>
            </a:r>
          </a:p>
          <a:p>
            <a:r>
              <a:rPr lang="en-IN" dirty="0">
                <a:solidFill>
                  <a:schemeClr val="bg1"/>
                </a:solidFill>
              </a:rPr>
              <a:t>State tax incentives and rebates. </a:t>
            </a:r>
          </a:p>
          <a:p>
            <a:r>
              <a:rPr lang="en-IN" dirty="0">
                <a:solidFill>
                  <a:schemeClr val="bg1"/>
                </a:solidFill>
              </a:rPr>
              <a:t>Higher environmental awareness. </a:t>
            </a:r>
          </a:p>
          <a:p>
            <a:r>
              <a:rPr lang="en-IN" dirty="0">
                <a:solidFill>
                  <a:schemeClr val="bg1"/>
                </a:solidFill>
              </a:rPr>
              <a:t>Higher urban population and purchasing power. </a:t>
            </a:r>
          </a:p>
          <a:p>
            <a:r>
              <a:rPr lang="en-IN" b="1" dirty="0">
                <a:solidFill>
                  <a:schemeClr val="bg1"/>
                </a:solidFill>
              </a:rPr>
              <a:t>Business Conclusion</a:t>
            </a:r>
          </a:p>
          <a:p>
            <a:r>
              <a:rPr lang="en-IN" dirty="0">
                <a:solidFill>
                  <a:schemeClr val="bg1"/>
                </a:solidFill>
              </a:rPr>
              <a:t>EV adoption is strongest in regions with supportive government policies and developed infrastructure.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564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8938-8C32-C77E-FAC5-342A1E96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1"/>
                </a:solidFill>
              </a:rPr>
              <a:t>Top 10 Vehicles by Make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3341A-9FCC-6C38-4D40-897979A39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Insight</a:t>
            </a:r>
          </a:p>
          <a:p>
            <a:r>
              <a:rPr lang="en-IN" dirty="0">
                <a:solidFill>
                  <a:schemeClr val="bg1"/>
                </a:solidFill>
              </a:rPr>
              <a:t>Tesla dominates the market with the highest number of registered EVs. </a:t>
            </a:r>
          </a:p>
          <a:p>
            <a:r>
              <a:rPr lang="en-IN" dirty="0">
                <a:solidFill>
                  <a:schemeClr val="bg1"/>
                </a:solidFill>
              </a:rPr>
              <a:t>Nissan, Chevrolet, Ford, and BMW follow.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Reason</a:t>
            </a:r>
          </a:p>
          <a:p>
            <a:r>
              <a:rPr lang="en-IN" dirty="0">
                <a:solidFill>
                  <a:schemeClr val="bg1"/>
                </a:solidFill>
              </a:rPr>
              <a:t>Tesla entered the EV market early. </a:t>
            </a:r>
          </a:p>
          <a:p>
            <a:r>
              <a:rPr lang="en-IN" dirty="0">
                <a:solidFill>
                  <a:schemeClr val="bg1"/>
                </a:solidFill>
              </a:rPr>
              <a:t>Longer battery range. </a:t>
            </a:r>
          </a:p>
          <a:p>
            <a:r>
              <a:rPr lang="en-IN" dirty="0">
                <a:solidFill>
                  <a:schemeClr val="bg1"/>
                </a:solidFill>
              </a:rPr>
              <a:t>Strong brand reputation. </a:t>
            </a:r>
          </a:p>
          <a:p>
            <a:r>
              <a:rPr lang="en-IN" dirty="0">
                <a:solidFill>
                  <a:schemeClr val="bg1"/>
                </a:solidFill>
              </a:rPr>
              <a:t>Extensive Supercharger network. </a:t>
            </a:r>
          </a:p>
          <a:p>
            <a:r>
              <a:rPr lang="en-IN" dirty="0">
                <a:solidFill>
                  <a:schemeClr val="bg1"/>
                </a:solidFill>
              </a:rPr>
              <a:t>Continuous software updates and innovation. </a:t>
            </a:r>
          </a:p>
          <a:p>
            <a:r>
              <a:rPr lang="en-IN" b="1" dirty="0">
                <a:solidFill>
                  <a:schemeClr val="bg1"/>
                </a:solidFill>
              </a:rPr>
              <a:t>Business Conclusion</a:t>
            </a:r>
          </a:p>
          <a:p>
            <a:r>
              <a:rPr lang="en-IN" dirty="0">
                <a:solidFill>
                  <a:schemeClr val="bg1"/>
                </a:solidFill>
              </a:rPr>
              <a:t>Brand reputation, technology, and charging infrastructure play a major role in customer purchasing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456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E707-3D11-E90E-4FAA-C36F5374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1"/>
                </a:solidFill>
              </a:rPr>
              <a:t>Total Vehicles by CAFV Eligibility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F3238-D184-5747-E4C1-CC7EE16D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Insight</a:t>
            </a:r>
          </a:p>
          <a:p>
            <a:r>
              <a:rPr lang="en-IN" dirty="0">
                <a:solidFill>
                  <a:schemeClr val="bg1"/>
                </a:solidFill>
              </a:rPr>
              <a:t>A large percentage of vehicles are eligible for Clean Alternative Fuel Vehicle (CAFV) incentives.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Reason</a:t>
            </a:r>
          </a:p>
          <a:p>
            <a:r>
              <a:rPr lang="en-IN" dirty="0">
                <a:solidFill>
                  <a:schemeClr val="bg1"/>
                </a:solidFill>
              </a:rPr>
              <a:t>Manufacturers designed vehicles to meet government eligibility standards. </a:t>
            </a:r>
          </a:p>
          <a:p>
            <a:r>
              <a:rPr lang="en-IN" dirty="0">
                <a:solidFill>
                  <a:schemeClr val="bg1"/>
                </a:solidFill>
              </a:rPr>
              <a:t>Buyers prefer vehicles that qualify for tax credits and rebates. </a:t>
            </a:r>
          </a:p>
          <a:p>
            <a:r>
              <a:rPr lang="en-IN" dirty="0">
                <a:solidFill>
                  <a:schemeClr val="bg1"/>
                </a:solidFill>
              </a:rPr>
              <a:t>Incentives reduce the effective purchase cost. </a:t>
            </a:r>
          </a:p>
          <a:p>
            <a:r>
              <a:rPr lang="en-IN" b="1" dirty="0">
                <a:solidFill>
                  <a:schemeClr val="bg1"/>
                </a:solidFill>
              </a:rPr>
              <a:t>Business Conclusion</a:t>
            </a:r>
          </a:p>
          <a:p>
            <a:r>
              <a:rPr lang="en-IN" dirty="0">
                <a:solidFill>
                  <a:schemeClr val="bg1"/>
                </a:solidFill>
              </a:rPr>
              <a:t>Government incentive programs significantly influence EV adoption.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7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FA73-8419-2830-50C2-41FF2866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1"/>
                </a:solidFill>
              </a:rPr>
              <a:t>Top 10 Vehicles by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4E59-DF26-B236-2CA5-83A1F1CB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Insight</a:t>
            </a:r>
          </a:p>
          <a:p>
            <a:r>
              <a:rPr lang="en-IN" dirty="0">
                <a:solidFill>
                  <a:schemeClr val="bg1"/>
                </a:solidFill>
              </a:rPr>
              <a:t>Tesla Model Y and Tesla Model 3 are the most popular EV models.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Reason</a:t>
            </a:r>
          </a:p>
          <a:p>
            <a:r>
              <a:rPr lang="en-IN" dirty="0">
                <a:solidFill>
                  <a:schemeClr val="bg1"/>
                </a:solidFill>
              </a:rPr>
              <a:t>High driving range. </a:t>
            </a:r>
          </a:p>
          <a:p>
            <a:r>
              <a:rPr lang="en-IN" dirty="0">
                <a:solidFill>
                  <a:schemeClr val="bg1"/>
                </a:solidFill>
              </a:rPr>
              <a:t>Advanced safety features. </a:t>
            </a:r>
          </a:p>
          <a:p>
            <a:r>
              <a:rPr lang="en-IN" dirty="0">
                <a:solidFill>
                  <a:schemeClr val="bg1"/>
                </a:solidFill>
              </a:rPr>
              <a:t>Competitive pricing compared to luxury EVs. </a:t>
            </a:r>
          </a:p>
          <a:p>
            <a:r>
              <a:rPr lang="en-IN" dirty="0">
                <a:solidFill>
                  <a:schemeClr val="bg1"/>
                </a:solidFill>
              </a:rPr>
              <a:t>Excellent charging network. </a:t>
            </a:r>
          </a:p>
          <a:p>
            <a:r>
              <a:rPr lang="en-IN" dirty="0">
                <a:solidFill>
                  <a:schemeClr val="bg1"/>
                </a:solidFill>
              </a:rPr>
              <a:t>Strong resale value. </a:t>
            </a:r>
          </a:p>
          <a:p>
            <a:r>
              <a:rPr lang="en-IN" b="1" dirty="0">
                <a:solidFill>
                  <a:schemeClr val="bg1"/>
                </a:solidFill>
              </a:rPr>
              <a:t>Business Conclusion</a:t>
            </a:r>
          </a:p>
          <a:p>
            <a:r>
              <a:rPr lang="en-IN" dirty="0">
                <a:solidFill>
                  <a:schemeClr val="bg1"/>
                </a:solidFill>
              </a:rPr>
              <a:t>Consumers prefer EV models that offer the best balance of range, technology, and price.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141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471C-A422-85AC-2521-BD21D568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1"/>
                </a:solidFill>
              </a:rPr>
              <a:t>Recommendation from insights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115A-FDF9-4B29-61A6-1EC9DD84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The Nissan LEAF and Chevrolet Bolt EV have the highest registrations among their respective brands, indicating they are one of the most popular models in this dataset after TESLA.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They need to work on their Technology to improve efficiency.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6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781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ELECTRIC VEHICLES DATA ANALYSIS</vt:lpstr>
      <vt:lpstr>PowerPoint Presentation</vt:lpstr>
      <vt:lpstr>PowerPoint Presentation</vt:lpstr>
      <vt:lpstr>Total Vehicles by Model Year (2010 Onwards)</vt:lpstr>
      <vt:lpstr>Total Vehicles by State</vt:lpstr>
      <vt:lpstr>Top 10 Vehicles by Make</vt:lpstr>
      <vt:lpstr>Total Vehicles by CAFV Eligibility</vt:lpstr>
      <vt:lpstr>Top 10 Vehicles by Model</vt:lpstr>
      <vt:lpstr>Recommendation from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chiranjitsahu11@outlook.com</cp:lastModifiedBy>
  <cp:revision>17</cp:revision>
  <dcterms:created xsi:type="dcterms:W3CDTF">2024-02-05T09:30:29Z</dcterms:created>
  <dcterms:modified xsi:type="dcterms:W3CDTF">2026-07-10T05:49:04Z</dcterms:modified>
</cp:coreProperties>
</file>